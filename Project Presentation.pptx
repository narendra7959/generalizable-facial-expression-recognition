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1"/>
  </p:notesMasterIdLst>
  <p:sldIdLst>
    <p:sldId id="314" r:id="rId2"/>
    <p:sldId id="308" r:id="rId3"/>
    <p:sldId id="309" r:id="rId4"/>
    <p:sldId id="310" r:id="rId5"/>
    <p:sldId id="311" r:id="rId6"/>
    <p:sldId id="307" r:id="rId7"/>
    <p:sldId id="312" r:id="rId8"/>
    <p:sldId id="271" r:id="rId9"/>
    <p:sldId id="278" r:id="rId10"/>
    <p:sldId id="272" r:id="rId11"/>
    <p:sldId id="264" r:id="rId12"/>
    <p:sldId id="285" r:id="rId13"/>
    <p:sldId id="277" r:id="rId14"/>
    <p:sldId id="275" r:id="rId15"/>
    <p:sldId id="305" r:id="rId16"/>
    <p:sldId id="280" r:id="rId17"/>
    <p:sldId id="281" r:id="rId18"/>
    <p:sldId id="316" r:id="rId19"/>
    <p:sldId id="315" r:id="rId20"/>
  </p:sldIdLst>
  <p:sldSz cx="9144000" cy="5143500" type="screen16x9"/>
  <p:notesSz cx="6858000" cy="9144000"/>
  <p:embeddedFontLst>
    <p:embeddedFont>
      <p:font typeface="Albert Sans" panose="020B0604020202020204" charset="0"/>
      <p:regular r:id="rId22"/>
      <p:bold r:id="rId23"/>
      <p:italic r:id="rId24"/>
      <p:boldItalic r:id="rId25"/>
    </p:embeddedFont>
    <p:embeddedFont>
      <p:font typeface="DM Sans" panose="020B0604020202020204" charset="0"/>
      <p:regular r:id="rId26"/>
      <p:bold r:id="rId27"/>
      <p:italic r:id="rId28"/>
      <p:boldItalic r:id="rId29"/>
    </p:embeddedFont>
    <p:embeddedFont>
      <p:font typeface="Nunito Light" panose="020B0604020202020204" charset="0"/>
      <p:regular r:id="rId30"/>
      <p:italic r:id="rId31"/>
    </p:embeddedFont>
    <p:embeddedFont>
      <p:font typeface="Poppins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F5F3A4-C8FE-4C7E-BEF0-09E01CFBBA96}">
  <a:tblStyle styleId="{DDF5F3A4-C8FE-4C7E-BEF0-09E01CFBBA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258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279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159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02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11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371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dd46dd1d67_2_8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dd46dd1d67_2_8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a53f3764c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a53f3764c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a42a0b69e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a42a0b69e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076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599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25" name="Google Shape;25;p4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720000" y="3555900"/>
            <a:ext cx="7704000" cy="9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720000" y="1888700"/>
            <a:ext cx="7704000" cy="9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720000" y="1387700"/>
            <a:ext cx="77040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720000" y="3054950"/>
            <a:ext cx="77040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 flipH="1">
            <a:off x="-286914" y="-686855"/>
            <a:ext cx="9835298" cy="2270105"/>
            <a:chOff x="-363114" y="-686855"/>
            <a:chExt cx="9835298" cy="2270105"/>
          </a:xfrm>
        </p:grpSpPr>
        <p:sp>
          <p:nvSpPr>
            <p:cNvPr id="36" name="Google Shape;36;p5"/>
            <p:cNvSpPr/>
            <p:nvPr/>
          </p:nvSpPr>
          <p:spPr>
            <a:xfrm flipH="1">
              <a:off x="8812484" y="1306050"/>
              <a:ext cx="277200" cy="277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8" name="Google Shape;38;p5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 flipH="1">
              <a:off x="8812484" y="539500"/>
              <a:ext cx="659700" cy="659700"/>
            </a:xfrm>
            <a:prstGeom prst="ellipse">
              <a:avLst/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-1253563" y="-2863475"/>
            <a:ext cx="10503560" cy="7810745"/>
            <a:chOff x="-1253563" y="-2863475"/>
            <a:chExt cx="10503560" cy="7810745"/>
          </a:xfrm>
        </p:grpSpPr>
        <p:sp>
          <p:nvSpPr>
            <p:cNvPr id="43" name="Google Shape;43;p6"/>
            <p:cNvSpPr/>
            <p:nvPr/>
          </p:nvSpPr>
          <p:spPr>
            <a:xfrm rot="10800000" flipH="1">
              <a:off x="8458597" y="-2863475"/>
              <a:ext cx="791400" cy="41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10800000" flipH="1">
              <a:off x="7897325" y="-2230235"/>
              <a:ext cx="791400" cy="2862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45" name="Google Shape;45;p6"/>
            <p:cNvGrpSpPr/>
            <p:nvPr/>
          </p:nvGrpSpPr>
          <p:grpSpPr>
            <a:xfrm>
              <a:off x="-1253563" y="3992679"/>
              <a:ext cx="1828500" cy="954591"/>
              <a:chOff x="-1253563" y="3992679"/>
              <a:chExt cx="1828500" cy="954591"/>
            </a:xfrm>
          </p:grpSpPr>
          <p:sp>
            <p:nvSpPr>
              <p:cNvPr id="46" name="Google Shape;46;p6"/>
              <p:cNvSpPr/>
              <p:nvPr/>
            </p:nvSpPr>
            <p:spPr>
              <a:xfrm rot="5400000" flipH="1">
                <a:off x="-119071" y="3992679"/>
                <a:ext cx="277200" cy="27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47" name="Google Shape;47;p6"/>
              <p:cNvSpPr/>
              <p:nvPr/>
            </p:nvSpPr>
            <p:spPr>
              <a:xfrm rot="5400000">
                <a:off x="-678013" y="3694320"/>
                <a:ext cx="677400" cy="1828500"/>
              </a:xfrm>
              <a:prstGeom prst="roundRect">
                <a:avLst>
                  <a:gd name="adj" fmla="val 50000"/>
                </a:avLst>
              </a:prstGeom>
              <a:solidFill>
                <a:srgbClr val="74CEC4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2585575" y="445025"/>
            <a:ext cx="584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2585575" y="1347250"/>
            <a:ext cx="58452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Albert Sans Light"/>
              <a:buAutoNum type="arabicPeriod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720000" y="1276938"/>
            <a:ext cx="37080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"/>
          </p:nvPr>
        </p:nvSpPr>
        <p:spPr>
          <a:xfrm>
            <a:off x="720000" y="2750263"/>
            <a:ext cx="37080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07" name="Google Shape;107;p15"/>
          <p:cNvGrpSpPr/>
          <p:nvPr/>
        </p:nvGrpSpPr>
        <p:grpSpPr>
          <a:xfrm>
            <a:off x="-1050200" y="3866575"/>
            <a:ext cx="1931825" cy="6297300"/>
            <a:chOff x="-1050200" y="3866575"/>
            <a:chExt cx="1931825" cy="6297300"/>
          </a:xfrm>
        </p:grpSpPr>
        <p:sp>
          <p:nvSpPr>
            <p:cNvPr id="108" name="Google Shape;108;p15"/>
            <p:cNvSpPr/>
            <p:nvPr/>
          </p:nvSpPr>
          <p:spPr>
            <a:xfrm rot="10800000" flipH="1">
              <a:off x="-1050200" y="3866575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 rot="10800000" flipH="1">
              <a:off x="211725" y="4650500"/>
              <a:ext cx="669900" cy="66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720000" y="1686150"/>
            <a:ext cx="3053100" cy="65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1"/>
          </p:nvPr>
        </p:nvSpPr>
        <p:spPr>
          <a:xfrm>
            <a:off x="720000" y="2292150"/>
            <a:ext cx="30531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>
            <a:off x="-107150" y="-5035775"/>
            <a:ext cx="9299250" cy="15215050"/>
            <a:chOff x="-107150" y="-5059050"/>
            <a:chExt cx="9299250" cy="15215050"/>
          </a:xfrm>
        </p:grpSpPr>
        <p:sp>
          <p:nvSpPr>
            <p:cNvPr id="114" name="Google Shape;114;p16"/>
            <p:cNvSpPr/>
            <p:nvPr/>
          </p:nvSpPr>
          <p:spPr>
            <a:xfrm flipH="1">
              <a:off x="-107150" y="-5059050"/>
              <a:ext cx="1026600" cy="62973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 flipH="1">
              <a:off x="8165500" y="3858700"/>
              <a:ext cx="1026600" cy="6297300"/>
            </a:xfrm>
            <a:prstGeom prst="roundRect">
              <a:avLst>
                <a:gd name="adj" fmla="val 50000"/>
              </a:avLst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116" name="Google Shape;116;p16"/>
          <p:cNvSpPr/>
          <p:nvPr/>
        </p:nvSpPr>
        <p:spPr>
          <a:xfrm rot="10800000" flipH="1">
            <a:off x="8430770" y="3055949"/>
            <a:ext cx="874500" cy="2573100"/>
          </a:xfrm>
          <a:prstGeom prst="roundRect">
            <a:avLst>
              <a:gd name="adj" fmla="val 50000"/>
            </a:avLst>
          </a:prstGeom>
          <a:solidFill>
            <a:srgbClr val="F6F6F6">
              <a:alpha val="20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1746175" y="445025"/>
            <a:ext cx="668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1746175" y="1215750"/>
            <a:ext cx="6684600" cy="3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3" name="Google Shape;123;p18"/>
          <p:cNvGrpSpPr/>
          <p:nvPr/>
        </p:nvGrpSpPr>
        <p:grpSpPr>
          <a:xfrm flipH="1">
            <a:off x="-1230850" y="2160950"/>
            <a:ext cx="2479800" cy="6297300"/>
            <a:chOff x="6564450" y="1268000"/>
            <a:chExt cx="2479800" cy="6297300"/>
          </a:xfrm>
        </p:grpSpPr>
        <p:sp>
          <p:nvSpPr>
            <p:cNvPr id="124" name="Google Shape;124;p18"/>
            <p:cNvSpPr/>
            <p:nvPr/>
          </p:nvSpPr>
          <p:spPr>
            <a:xfrm>
              <a:off x="7417650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6564450" y="2822300"/>
              <a:ext cx="1071600" cy="4365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6890850" y="2109800"/>
              <a:ext cx="418800" cy="418800"/>
            </a:xfrm>
            <a:prstGeom prst="ellipse">
              <a:avLst/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 flipH="1">
            <a:off x="-822466" y="-3825506"/>
            <a:ext cx="9983475" cy="8969006"/>
            <a:chOff x="-22300" y="-3825506"/>
            <a:chExt cx="9983475" cy="8969006"/>
          </a:xfrm>
        </p:grpSpPr>
        <p:sp>
          <p:nvSpPr>
            <p:cNvPr id="138" name="Google Shape;138;p20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21"/>
          <p:cNvGrpSpPr/>
          <p:nvPr/>
        </p:nvGrpSpPr>
        <p:grpSpPr>
          <a:xfrm>
            <a:off x="-107146" y="-909126"/>
            <a:ext cx="9417818" cy="8992626"/>
            <a:chOff x="-107146" y="-909126"/>
            <a:chExt cx="9417818" cy="8992626"/>
          </a:xfrm>
        </p:grpSpPr>
        <p:sp>
          <p:nvSpPr>
            <p:cNvPr id="145" name="Google Shape;145;p21"/>
            <p:cNvSpPr/>
            <p:nvPr/>
          </p:nvSpPr>
          <p:spPr>
            <a:xfrm rot="10800000" flipH="1">
              <a:off x="8519272" y="3954900"/>
              <a:ext cx="791400" cy="41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6" name="Google Shape;146;p21"/>
            <p:cNvSpPr/>
            <p:nvPr/>
          </p:nvSpPr>
          <p:spPr>
            <a:xfrm rot="10800000" flipH="1">
              <a:off x="7958000" y="4588140"/>
              <a:ext cx="791400" cy="2862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47" name="Google Shape;147;p21"/>
            <p:cNvGrpSpPr/>
            <p:nvPr/>
          </p:nvGrpSpPr>
          <p:grpSpPr>
            <a:xfrm rot="5400000">
              <a:off x="-544100" y="-472171"/>
              <a:ext cx="1828500" cy="954591"/>
              <a:chOff x="-1253563" y="3992679"/>
              <a:chExt cx="1828500" cy="954591"/>
            </a:xfrm>
          </p:grpSpPr>
          <p:sp>
            <p:nvSpPr>
              <p:cNvPr id="148" name="Google Shape;148;p21"/>
              <p:cNvSpPr/>
              <p:nvPr/>
            </p:nvSpPr>
            <p:spPr>
              <a:xfrm rot="5400000" flipH="1">
                <a:off x="-119071" y="3992679"/>
                <a:ext cx="277200" cy="277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9" name="Google Shape;149;p21"/>
              <p:cNvSpPr/>
              <p:nvPr/>
            </p:nvSpPr>
            <p:spPr>
              <a:xfrm rot="5400000">
                <a:off x="-678013" y="3694320"/>
                <a:ext cx="677400" cy="1828500"/>
              </a:xfrm>
              <a:prstGeom prst="roundRect">
                <a:avLst>
                  <a:gd name="adj" fmla="val 50000"/>
                </a:avLst>
              </a:prstGeom>
              <a:solidFill>
                <a:srgbClr val="F2557A">
                  <a:alpha val="6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1"/>
          </p:nvPr>
        </p:nvSpPr>
        <p:spPr>
          <a:xfrm>
            <a:off x="3099859" y="1710975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2"/>
          </p:nvPr>
        </p:nvSpPr>
        <p:spPr>
          <a:xfrm>
            <a:off x="3099859" y="3946825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3"/>
          </p:nvPr>
        </p:nvSpPr>
        <p:spPr>
          <a:xfrm>
            <a:off x="3099859" y="2828900"/>
            <a:ext cx="361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4"/>
          </p:nvPr>
        </p:nvSpPr>
        <p:spPr>
          <a:xfrm>
            <a:off x="3099859" y="1324575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5"/>
          </p:nvPr>
        </p:nvSpPr>
        <p:spPr>
          <a:xfrm>
            <a:off x="3099859" y="3560425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6"/>
          </p:nvPr>
        </p:nvSpPr>
        <p:spPr>
          <a:xfrm>
            <a:off x="3099859" y="2442500"/>
            <a:ext cx="3619800" cy="52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58" name="Google Shape;158;p22"/>
          <p:cNvGrpSpPr/>
          <p:nvPr/>
        </p:nvGrpSpPr>
        <p:grpSpPr>
          <a:xfrm>
            <a:off x="-393450" y="136650"/>
            <a:ext cx="9412000" cy="7788778"/>
            <a:chOff x="-393450" y="136650"/>
            <a:chExt cx="9412000" cy="7788778"/>
          </a:xfrm>
        </p:grpSpPr>
        <p:sp>
          <p:nvSpPr>
            <p:cNvPr id="159" name="Google Shape;159;p22"/>
            <p:cNvSpPr/>
            <p:nvPr/>
          </p:nvSpPr>
          <p:spPr>
            <a:xfrm rot="10800000" flipH="1">
              <a:off x="8492050" y="136650"/>
              <a:ext cx="526500" cy="52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60" name="Google Shape;160;p22"/>
            <p:cNvGrpSpPr/>
            <p:nvPr/>
          </p:nvGrpSpPr>
          <p:grpSpPr>
            <a:xfrm>
              <a:off x="-393450" y="2571752"/>
              <a:ext cx="1462351" cy="5353676"/>
              <a:chOff x="-2108325" y="-2157248"/>
              <a:chExt cx="1462351" cy="5353676"/>
            </a:xfrm>
          </p:grpSpPr>
          <p:sp>
            <p:nvSpPr>
              <p:cNvPr id="161" name="Google Shape;161;p22"/>
              <p:cNvSpPr/>
              <p:nvPr/>
            </p:nvSpPr>
            <p:spPr>
              <a:xfrm rot="10800000" flipH="1">
                <a:off x="-2108325" y="-2157248"/>
                <a:ext cx="793500" cy="793500"/>
              </a:xfrm>
              <a:prstGeom prst="ellipse">
                <a:avLst/>
              </a:prstGeom>
              <a:solidFill>
                <a:srgbClr val="74CEC4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62" name="Google Shape;162;p22"/>
              <p:cNvSpPr/>
              <p:nvPr/>
            </p:nvSpPr>
            <p:spPr>
              <a:xfrm rot="10800000">
                <a:off x="-1665375" y="-1168572"/>
                <a:ext cx="1019400" cy="43650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"/>
          </p:nvPr>
        </p:nvSpPr>
        <p:spPr>
          <a:xfrm>
            <a:off x="716625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2"/>
          </p:nvPr>
        </p:nvSpPr>
        <p:spPr>
          <a:xfrm>
            <a:off x="3352500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3"/>
          </p:nvPr>
        </p:nvSpPr>
        <p:spPr>
          <a:xfrm>
            <a:off x="5988375" y="2255698"/>
            <a:ext cx="2439000" cy="187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4"/>
          </p:nvPr>
        </p:nvSpPr>
        <p:spPr>
          <a:xfrm>
            <a:off x="716625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5"/>
          </p:nvPr>
        </p:nvSpPr>
        <p:spPr>
          <a:xfrm>
            <a:off x="3352500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6"/>
          </p:nvPr>
        </p:nvSpPr>
        <p:spPr>
          <a:xfrm>
            <a:off x="5988375" y="1480225"/>
            <a:ext cx="2439000" cy="8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1" name="Google Shape;171;p23"/>
          <p:cNvGrpSpPr/>
          <p:nvPr/>
        </p:nvGrpSpPr>
        <p:grpSpPr>
          <a:xfrm>
            <a:off x="-928775" y="-93025"/>
            <a:ext cx="10062875" cy="6791097"/>
            <a:chOff x="-928775" y="-93025"/>
            <a:chExt cx="10062875" cy="6791097"/>
          </a:xfrm>
        </p:grpSpPr>
        <p:sp>
          <p:nvSpPr>
            <p:cNvPr id="172" name="Google Shape;172;p23"/>
            <p:cNvSpPr/>
            <p:nvPr/>
          </p:nvSpPr>
          <p:spPr>
            <a:xfrm>
              <a:off x="-928775" y="-93025"/>
              <a:ext cx="1648800" cy="1648800"/>
            </a:xfrm>
            <a:prstGeom prst="ellipse">
              <a:avLst/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73" name="Google Shape;173;p23"/>
            <p:cNvGrpSpPr/>
            <p:nvPr/>
          </p:nvGrpSpPr>
          <p:grpSpPr>
            <a:xfrm>
              <a:off x="8424000" y="4173728"/>
              <a:ext cx="710100" cy="2524343"/>
              <a:chOff x="8424000" y="4173728"/>
              <a:chExt cx="710100" cy="2524343"/>
            </a:xfrm>
          </p:grpSpPr>
          <p:sp>
            <p:nvSpPr>
              <p:cNvPr id="174" name="Google Shape;174;p23"/>
              <p:cNvSpPr/>
              <p:nvPr/>
            </p:nvSpPr>
            <p:spPr>
              <a:xfrm>
                <a:off x="8609250" y="4173728"/>
                <a:ext cx="339600" cy="339600"/>
              </a:xfrm>
              <a:prstGeom prst="ellipse">
                <a:avLst/>
              </a:prstGeom>
              <a:solidFill>
                <a:srgbClr val="F2557A">
                  <a:alpha val="762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8424000" y="4608572"/>
                <a:ext cx="710100" cy="2089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1"/>
          </p:nvPr>
        </p:nvSpPr>
        <p:spPr>
          <a:xfrm>
            <a:off x="720000" y="1781139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2"/>
          </p:nvPr>
        </p:nvSpPr>
        <p:spPr>
          <a:xfrm>
            <a:off x="4571802" y="1778800"/>
            <a:ext cx="38517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3"/>
          </p:nvPr>
        </p:nvSpPr>
        <p:spPr>
          <a:xfrm>
            <a:off x="720000" y="3635325"/>
            <a:ext cx="7704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4"/>
          </p:nvPr>
        </p:nvSpPr>
        <p:spPr>
          <a:xfrm>
            <a:off x="720000" y="1467825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5"/>
          </p:nvPr>
        </p:nvSpPr>
        <p:spPr>
          <a:xfrm>
            <a:off x="4571800" y="1467825"/>
            <a:ext cx="3851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6"/>
          </p:nvPr>
        </p:nvSpPr>
        <p:spPr>
          <a:xfrm>
            <a:off x="720000" y="3325377"/>
            <a:ext cx="77040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4" name="Google Shape;184;p24"/>
          <p:cNvGrpSpPr/>
          <p:nvPr/>
        </p:nvGrpSpPr>
        <p:grpSpPr>
          <a:xfrm>
            <a:off x="-22300" y="-3825506"/>
            <a:ext cx="9983475" cy="8969006"/>
            <a:chOff x="-22300" y="-3825506"/>
            <a:chExt cx="9983475" cy="8969006"/>
          </a:xfrm>
        </p:grpSpPr>
        <p:sp>
          <p:nvSpPr>
            <p:cNvPr id="185" name="Google Shape;185;p24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7" name="Google Shape;187;p24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 flipH="1">
            <a:off x="8312375" y="-678400"/>
            <a:ext cx="1648800" cy="16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29"/>
          <p:cNvSpPr/>
          <p:nvPr/>
        </p:nvSpPr>
        <p:spPr>
          <a:xfrm rot="5400000" flipH="1">
            <a:off x="-27100" y="4612200"/>
            <a:ext cx="536100" cy="5265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29"/>
          <p:cNvSpPr/>
          <p:nvPr/>
        </p:nvSpPr>
        <p:spPr>
          <a:xfrm flipH="1">
            <a:off x="171200" y="4469010"/>
            <a:ext cx="526500" cy="526500"/>
          </a:xfrm>
          <a:prstGeom prst="ellipse">
            <a:avLst/>
          </a:prstGeom>
          <a:solidFill>
            <a:srgbClr val="0584A4">
              <a:alpha val="31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819550" y="-3825506"/>
            <a:ext cx="1483500" cy="4365000"/>
          </a:xfrm>
          <a:prstGeom prst="roundRect">
            <a:avLst>
              <a:gd name="adj" fmla="val 50000"/>
            </a:avLst>
          </a:prstGeom>
          <a:solidFill>
            <a:srgbClr val="FFFFFF">
              <a:alpha val="41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subTitle" idx="1"/>
          </p:nvPr>
        </p:nvSpPr>
        <p:spPr>
          <a:xfrm>
            <a:off x="1747638" y="1647925"/>
            <a:ext cx="2626800" cy="91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ubTitle" idx="2"/>
          </p:nvPr>
        </p:nvSpPr>
        <p:spPr>
          <a:xfrm>
            <a:off x="5186088" y="1647925"/>
            <a:ext cx="2626800" cy="91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subTitle" idx="3"/>
          </p:nvPr>
        </p:nvSpPr>
        <p:spPr>
          <a:xfrm>
            <a:off x="1747638" y="3231925"/>
            <a:ext cx="2626800" cy="91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4"/>
          </p:nvPr>
        </p:nvSpPr>
        <p:spPr>
          <a:xfrm>
            <a:off x="5186088" y="3231925"/>
            <a:ext cx="2626800" cy="91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ubTitle" idx="5"/>
          </p:nvPr>
        </p:nvSpPr>
        <p:spPr>
          <a:xfrm>
            <a:off x="1747650" y="1215625"/>
            <a:ext cx="2626800" cy="48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6"/>
          </p:nvPr>
        </p:nvSpPr>
        <p:spPr>
          <a:xfrm>
            <a:off x="5186100" y="1215625"/>
            <a:ext cx="2626800" cy="48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subTitle" idx="7"/>
          </p:nvPr>
        </p:nvSpPr>
        <p:spPr>
          <a:xfrm>
            <a:off x="1747650" y="2799575"/>
            <a:ext cx="2626800" cy="48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8"/>
          </p:nvPr>
        </p:nvSpPr>
        <p:spPr>
          <a:xfrm>
            <a:off x="5186100" y="2799575"/>
            <a:ext cx="2626800" cy="48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99" name="Google Shape;199;p25"/>
          <p:cNvGrpSpPr/>
          <p:nvPr/>
        </p:nvGrpSpPr>
        <p:grpSpPr>
          <a:xfrm>
            <a:off x="-2608950" y="-68353"/>
            <a:ext cx="14807675" cy="5426654"/>
            <a:chOff x="-2608950" y="-68353"/>
            <a:chExt cx="14807675" cy="5426654"/>
          </a:xfrm>
        </p:grpSpPr>
        <p:sp>
          <p:nvSpPr>
            <p:cNvPr id="200" name="Google Shape;200;p25"/>
            <p:cNvSpPr/>
            <p:nvPr/>
          </p:nvSpPr>
          <p:spPr>
            <a:xfrm rot="-5400000">
              <a:off x="9880775" y="-1781803"/>
              <a:ext cx="604500" cy="4031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01" name="Google Shape;201;p25"/>
            <p:cNvSpPr/>
            <p:nvPr/>
          </p:nvSpPr>
          <p:spPr>
            <a:xfrm rot="-5400000">
              <a:off x="9588139" y="-734549"/>
              <a:ext cx="604500" cy="2794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02" name="Google Shape;202;p25"/>
            <p:cNvSpPr/>
            <p:nvPr/>
          </p:nvSpPr>
          <p:spPr>
            <a:xfrm rot="5400000">
              <a:off x="-895500" y="3040351"/>
              <a:ext cx="604500" cy="4031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 rot="5400000">
              <a:off x="-380001" y="3806300"/>
              <a:ext cx="604500" cy="1641900"/>
            </a:xfrm>
            <a:prstGeom prst="roundRect">
              <a:avLst>
                <a:gd name="adj" fmla="val 50000"/>
              </a:avLst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7675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1777663" y="176167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"/>
          </p:nvPr>
        </p:nvSpPr>
        <p:spPr>
          <a:xfrm>
            <a:off x="5757738" y="176167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3"/>
          </p:nvPr>
        </p:nvSpPr>
        <p:spPr>
          <a:xfrm>
            <a:off x="5757737" y="2793753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4"/>
          </p:nvPr>
        </p:nvSpPr>
        <p:spPr>
          <a:xfrm>
            <a:off x="1777663" y="2793759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5" hasCustomPrompt="1"/>
          </p:nvPr>
        </p:nvSpPr>
        <p:spPr>
          <a:xfrm>
            <a:off x="876463" y="148027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6" hasCustomPrompt="1"/>
          </p:nvPr>
        </p:nvSpPr>
        <p:spPr>
          <a:xfrm>
            <a:off x="4856538" y="25123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7" hasCustomPrompt="1"/>
          </p:nvPr>
        </p:nvSpPr>
        <p:spPr>
          <a:xfrm>
            <a:off x="4856538" y="148027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8" hasCustomPrompt="1"/>
          </p:nvPr>
        </p:nvSpPr>
        <p:spPr>
          <a:xfrm>
            <a:off x="876463" y="2512350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9"/>
          </p:nvPr>
        </p:nvSpPr>
        <p:spPr>
          <a:xfrm>
            <a:off x="5757737" y="3825828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3"/>
          </p:nvPr>
        </p:nvSpPr>
        <p:spPr>
          <a:xfrm>
            <a:off x="1777663" y="3825825"/>
            <a:ext cx="2509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6538" y="35444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5" hasCustomPrompt="1"/>
          </p:nvPr>
        </p:nvSpPr>
        <p:spPr>
          <a:xfrm>
            <a:off x="876463" y="35444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6"/>
          </p:nvPr>
        </p:nvSpPr>
        <p:spPr>
          <a:xfrm>
            <a:off x="1777662" y="148027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7"/>
          </p:nvPr>
        </p:nvSpPr>
        <p:spPr>
          <a:xfrm>
            <a:off x="5757738" y="148027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8"/>
          </p:nvPr>
        </p:nvSpPr>
        <p:spPr>
          <a:xfrm>
            <a:off x="5757737" y="2512350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9"/>
          </p:nvPr>
        </p:nvSpPr>
        <p:spPr>
          <a:xfrm>
            <a:off x="1777662" y="2512338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0"/>
          </p:nvPr>
        </p:nvSpPr>
        <p:spPr>
          <a:xfrm>
            <a:off x="5757737" y="354442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1"/>
          </p:nvPr>
        </p:nvSpPr>
        <p:spPr>
          <a:xfrm>
            <a:off x="1777662" y="3544425"/>
            <a:ext cx="2509800" cy="3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92" name="Google Shape;92;p13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F2557A">
                <a:alpha val="76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642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30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247" name="Google Shape;247;p30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EE325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493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>
            <a:lumMod val="85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8" r:id="rId6"/>
    <p:sldLayoutId id="2147483661" r:id="rId7"/>
    <p:sldLayoutId id="2147483662" r:id="rId8"/>
    <p:sldLayoutId id="2147483664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5" r:id="rId15"/>
    <p:sldLayoutId id="2147483680" r:id="rId16"/>
    <p:sldLayoutId id="2147483681" r:id="rId17"/>
    <p:sldLayoutId id="2147483682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utorials/beginner/data_loading_tutorial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analytics-vidhya/creating-a-custom-dataset-and-dataloader-in-pytorch-76f210a1df5d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ctrTitle" idx="4294967295"/>
          </p:nvPr>
        </p:nvSpPr>
        <p:spPr>
          <a:xfrm>
            <a:off x="999456" y="492517"/>
            <a:ext cx="4707013" cy="26447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IN" sz="4000" dirty="0">
                <a:latin typeface="Poppins" panose="020B0604020202020204" charset="0"/>
                <a:cs typeface="Poppins" panose="020B0604020202020204" charset="0"/>
              </a:rPr>
              <a:t>Generalizable</a:t>
            </a:r>
            <a:r>
              <a:rPr lang="en-IN" sz="4000" dirty="0"/>
              <a:t> Facial Expression Recognition</a:t>
            </a:r>
          </a:p>
        </p:txBody>
      </p:sp>
      <p:sp>
        <p:nvSpPr>
          <p:cNvPr id="262" name="Google Shape;262;p34"/>
          <p:cNvSpPr txBox="1">
            <a:spLocks noGrp="1"/>
          </p:cNvSpPr>
          <p:nvPr>
            <p:ph type="subTitle" idx="4294967295"/>
          </p:nvPr>
        </p:nvSpPr>
        <p:spPr>
          <a:xfrm>
            <a:off x="0" y="3398838"/>
            <a:ext cx="6586538" cy="168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lbert Sans"/>
                <a:ea typeface="Albert Sans"/>
                <a:cs typeface="Albert Sans"/>
                <a:sym typeface="Albert Sans"/>
              </a:rPr>
              <a:t>Presented by: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bert Sans"/>
                <a:ea typeface="Albert Sans"/>
                <a:cs typeface="Albert Sans"/>
                <a:sym typeface="Albert Sans"/>
              </a:rPr>
              <a:t>Sai </a:t>
            </a:r>
            <a:r>
              <a:rPr lang="en-IN" dirty="0">
                <a:latin typeface="Albert Sans"/>
                <a:ea typeface="Albert Sans"/>
                <a:cs typeface="Albert Sans"/>
                <a:sym typeface="Albert Sans"/>
              </a:rPr>
              <a:t>Narendra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lbert Sans"/>
                <a:ea typeface="Albert Sans"/>
                <a:cs typeface="Albert Sans"/>
                <a:sym typeface="Albert Sans"/>
              </a:rPr>
              <a:t>Supervised By</a:t>
            </a:r>
            <a:r>
              <a:rPr lang="en-IN" dirty="0">
                <a:latin typeface="Albert Sans"/>
                <a:ea typeface="Albert Sans"/>
                <a:cs typeface="Albert Sans"/>
                <a:sym typeface="Albert Sans"/>
              </a:rPr>
              <a:t>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Albert Sans"/>
                <a:ea typeface="Albert Sans"/>
                <a:cs typeface="Albert Sans"/>
                <a:sym typeface="Albert Sans"/>
              </a:rPr>
              <a:t>P</a:t>
            </a:r>
            <a:r>
              <a:rPr lang="en-IN" sz="1400" dirty="0">
                <a:latin typeface="Albert Sans"/>
                <a:ea typeface="Albert Sans"/>
                <a:cs typeface="Albert Sans"/>
                <a:sym typeface="Albert Sans"/>
              </a:rPr>
              <a:t>rof. SVSN Sarma, Asst. Professor, Mathematics &amp; Computer Science, SSSIHL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Albert Sans"/>
                <a:ea typeface="Albert Sans"/>
                <a:cs typeface="Albert Sans"/>
                <a:sym typeface="Albert Sans"/>
              </a:rPr>
              <a:t>D</a:t>
            </a:r>
            <a:r>
              <a:rPr lang="en-IN" sz="1400" dirty="0">
                <a:latin typeface="Albert Sans"/>
                <a:ea typeface="Albert Sans"/>
                <a:cs typeface="Albert Sans"/>
                <a:sym typeface="Albert Sans"/>
              </a:rPr>
              <a:t>r. Darshan Gera, Asst. Professor, Mathematics &amp; Computer Science, SSSIHL</a:t>
            </a:r>
            <a:endParaRPr sz="1400" dirty="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9A2DE-AC8C-4374-970E-25CCC840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091" y="652130"/>
            <a:ext cx="2266459" cy="33784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7B7F2-36DC-4B57-964F-8C952771AC28}"/>
              </a:ext>
            </a:extLst>
          </p:cNvPr>
          <p:cNvSpPr txBox="1"/>
          <p:nvPr/>
        </p:nvSpPr>
        <p:spPr>
          <a:xfrm>
            <a:off x="1559781" y="322039"/>
            <a:ext cx="2558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2">
                    <a:lumMod val="50000"/>
                  </a:schemeClr>
                </a:solidFill>
              </a:rPr>
              <a:t>Aum Sri Sai Ram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/>
          </p:nvPr>
        </p:nvSpPr>
        <p:spPr>
          <a:xfrm>
            <a:off x="283534" y="369845"/>
            <a:ext cx="44160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Table of contents:</a:t>
            </a:r>
            <a:endParaRPr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86182-50EF-4AA5-9A4D-B17DA20524B8}"/>
              </a:ext>
            </a:extLst>
          </p:cNvPr>
          <p:cNvSpPr txBox="1"/>
          <p:nvPr/>
        </p:nvSpPr>
        <p:spPr>
          <a:xfrm>
            <a:off x="659220" y="1708298"/>
            <a:ext cx="71734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Problem Statement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Introduction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Literature View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Methodology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Implementation Details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Results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Conclusion</a:t>
            </a:r>
          </a:p>
          <a:p>
            <a:pPr marL="342900" indent="-342900">
              <a:buClr>
                <a:schemeClr val="bg2">
                  <a:lumMod val="50000"/>
                </a:schemeClr>
              </a:buClr>
              <a:buAutoNum type="arabicPeriod"/>
            </a:pPr>
            <a:r>
              <a:rPr lang="en-GB" sz="1800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  <a:cs typeface="Poppins" panose="020B0604020202020204" charset="0"/>
              </a:rPr>
              <a:t>Future Work </a:t>
            </a:r>
            <a:endParaRPr lang="en-IN" sz="1800" dirty="0">
              <a:solidFill>
                <a:schemeClr val="bg2">
                  <a:lumMod val="50000"/>
                </a:schemeClr>
              </a:solidFill>
              <a:latin typeface="Albert Sans" panose="020B0604020202020204" charset="0"/>
              <a:cs typeface="Poppins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2D24C-A0FE-4378-AB04-A464B991969A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83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726371" y="117744"/>
            <a:ext cx="3845629" cy="4288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Problem statement</a:t>
            </a:r>
            <a:r>
              <a:rPr lang="en" sz="2400" dirty="0"/>
              <a:t>:</a:t>
            </a:r>
            <a:endParaRPr sz="2400" dirty="0"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1"/>
          </p:nvPr>
        </p:nvSpPr>
        <p:spPr>
          <a:xfrm>
            <a:off x="624663" y="792568"/>
            <a:ext cx="3338623" cy="2822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/>
              <a:t>Facial Expression Recognition (FER) models struggle to generalize across different datasets due to domain gaps. (e.g., different lighting, ethnicities, camera qualities, or facial features).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/>
              <a:t>Existing domain adaptation techniques require labelled or unlabelled target domain samples for fine-tuning, which is often impractical.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b="1" dirty="0"/>
              <a:t>Zero-Shot Generalization</a:t>
            </a:r>
            <a:r>
              <a:rPr lang="en-GB" sz="1200" dirty="0"/>
              <a:t> → The goal is to </a:t>
            </a:r>
            <a:r>
              <a:rPr lang="en-GB" sz="1200" b="1" dirty="0"/>
              <a:t>train on one dataset and generalize well to unseen test sets</a:t>
            </a:r>
            <a:r>
              <a:rPr lang="en-GB" sz="1200" dirty="0"/>
              <a:t> without additional adaptation.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C4A56-8B21-4675-8B12-67DCD72A70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6" t="3411" r="707" b="2870"/>
          <a:stretch/>
        </p:blipFill>
        <p:spPr>
          <a:xfrm>
            <a:off x="4320540" y="792568"/>
            <a:ext cx="4593088" cy="29500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17A60A-0611-4A7D-A25B-4D3488FC3D21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A3C5F9-9973-486F-AEB7-949857E589A6}"/>
              </a:ext>
            </a:extLst>
          </p:cNvPr>
          <p:cNvSpPr/>
          <p:nvPr/>
        </p:nvSpPr>
        <p:spPr>
          <a:xfrm>
            <a:off x="326597" y="4459247"/>
            <a:ext cx="83855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Zhang, Yuhang, et al. "Generalizable Facial Expression Recognition." European Conference on Computer Vision. Cham: Springer Nature Switzerland, 2024.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201EE-CFCB-4897-9F41-9CAEF8019A34}"/>
              </a:ext>
            </a:extLst>
          </p:cNvPr>
          <p:cNvSpPr txBox="1"/>
          <p:nvPr/>
        </p:nvSpPr>
        <p:spPr>
          <a:xfrm>
            <a:off x="326597" y="4106950"/>
            <a:ext cx="2247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Referenced Paper :</a:t>
            </a:r>
            <a:endParaRPr lang="en-IN" b="1" u="sng" dirty="0">
              <a:solidFill>
                <a:schemeClr val="bg2">
                  <a:lumMod val="50000"/>
                </a:schemeClr>
              </a:solidFill>
              <a:latin typeface="Alber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7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>
            <a:spLocks noGrp="1"/>
          </p:cNvSpPr>
          <p:nvPr>
            <p:ph type="subTitle" idx="1"/>
          </p:nvPr>
        </p:nvSpPr>
        <p:spPr>
          <a:xfrm>
            <a:off x="167108" y="849940"/>
            <a:ext cx="3001394" cy="3325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dirty="0"/>
              <a:t>Facial expression recognition plays a critical role in human-computer interaction.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dirty="0"/>
              <a:t>Despite the success of deep learning-based FER models, they exhibit poor generalization when tested on unseen datasets with domain shifts.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dirty="0"/>
              <a:t>Current domain adaptation approaches assume access to target domain data, which is not feasible in real-world scenarios.</a:t>
            </a:r>
            <a:endParaRPr dirty="0"/>
          </a:p>
        </p:txBody>
      </p:sp>
      <p:sp>
        <p:nvSpPr>
          <p:cNvPr id="392" name="Google Shape;392;p46"/>
          <p:cNvSpPr txBox="1">
            <a:spLocks noGrp="1"/>
          </p:cNvSpPr>
          <p:nvPr>
            <p:ph type="subTitle" idx="4"/>
          </p:nvPr>
        </p:nvSpPr>
        <p:spPr>
          <a:xfrm>
            <a:off x="167108" y="366399"/>
            <a:ext cx="332746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Introduction: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B0D65-F8DE-4F7C-9D1E-04AD084B412D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4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FB840-DDCC-49C2-80CA-CC460E8FB8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5" t="1818"/>
          <a:stretch/>
        </p:blipFill>
        <p:spPr>
          <a:xfrm>
            <a:off x="3759851" y="694662"/>
            <a:ext cx="4883889" cy="348037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869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92;p46">
            <a:extLst>
              <a:ext uri="{FF2B5EF4-FFF2-40B4-BE49-F238E27FC236}">
                <a16:creationId xmlns:a16="http://schemas.microsoft.com/office/drawing/2014/main" id="{6A9CC5FC-056C-4D7E-8C5D-5F44ED1E698D}"/>
              </a:ext>
            </a:extLst>
          </p:cNvPr>
          <p:cNvSpPr txBox="1">
            <a:spLocks/>
          </p:cNvSpPr>
          <p:nvPr/>
        </p:nvSpPr>
        <p:spPr>
          <a:xfrm>
            <a:off x="230903" y="455424"/>
            <a:ext cx="38517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en-GB" sz="2400" dirty="0"/>
              <a:t>Key Challenges in FER:</a:t>
            </a:r>
          </a:p>
        </p:txBody>
      </p:sp>
      <p:sp>
        <p:nvSpPr>
          <p:cNvPr id="20" name="Google Shape;389;p46">
            <a:extLst>
              <a:ext uri="{FF2B5EF4-FFF2-40B4-BE49-F238E27FC236}">
                <a16:creationId xmlns:a16="http://schemas.microsoft.com/office/drawing/2014/main" id="{6578C01A-13FF-40CF-9801-1EBFB433F8E1}"/>
              </a:ext>
            </a:extLst>
          </p:cNvPr>
          <p:cNvSpPr txBox="1">
            <a:spLocks/>
          </p:cNvSpPr>
          <p:nvPr/>
        </p:nvSpPr>
        <p:spPr>
          <a:xfrm>
            <a:off x="365582" y="1929880"/>
            <a:ext cx="3002458" cy="146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600" dirty="0"/>
              <a:t>Domain Shift Problem </a:t>
            </a:r>
          </a:p>
          <a:p>
            <a:pPr marL="0" indent="0" algn="l"/>
            <a:endParaRPr lang="en-IN" sz="16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600" dirty="0"/>
              <a:t>Data Dependency </a:t>
            </a:r>
          </a:p>
          <a:p>
            <a:pPr marL="0" indent="0" algn="l"/>
            <a:endParaRPr lang="en-IN" sz="16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600" dirty="0"/>
              <a:t>Zero-Shot Generalization 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F4DE2-C6FD-4CB4-B5B9-8568666F655D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5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6E3B98-BCC8-4581-8FC0-B9D0BF8924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7" t="1968" r="1057"/>
          <a:stretch/>
        </p:blipFill>
        <p:spPr>
          <a:xfrm>
            <a:off x="3778102" y="1128897"/>
            <a:ext cx="5135526" cy="28857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53696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92;p46">
            <a:extLst>
              <a:ext uri="{FF2B5EF4-FFF2-40B4-BE49-F238E27FC236}">
                <a16:creationId xmlns:a16="http://schemas.microsoft.com/office/drawing/2014/main" id="{F39A8D3C-01C5-43EB-B0EF-82F683324028}"/>
              </a:ext>
            </a:extLst>
          </p:cNvPr>
          <p:cNvSpPr txBox="1">
            <a:spLocks/>
          </p:cNvSpPr>
          <p:nvPr/>
        </p:nvSpPr>
        <p:spPr>
          <a:xfrm>
            <a:off x="230902" y="324544"/>
            <a:ext cx="38517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M Sans"/>
              <a:buNone/>
              <a:defRPr sz="2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l"/>
            <a:r>
              <a:rPr lang="en-GB" sz="2400" dirty="0"/>
              <a:t>Literature View:</a:t>
            </a:r>
          </a:p>
        </p:txBody>
      </p:sp>
      <p:sp>
        <p:nvSpPr>
          <p:cNvPr id="22" name="Google Shape;389;p46">
            <a:extLst>
              <a:ext uri="{FF2B5EF4-FFF2-40B4-BE49-F238E27FC236}">
                <a16:creationId xmlns:a16="http://schemas.microsoft.com/office/drawing/2014/main" id="{3D24A282-2CC2-474F-9CC8-3A00947BD33A}"/>
              </a:ext>
            </a:extLst>
          </p:cNvPr>
          <p:cNvSpPr txBox="1">
            <a:spLocks/>
          </p:cNvSpPr>
          <p:nvPr/>
        </p:nvSpPr>
        <p:spPr>
          <a:xfrm>
            <a:off x="117488" y="1724555"/>
            <a:ext cx="3773851" cy="15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600" dirty="0"/>
              <a:t>Facial Expression Recognition (FER)</a:t>
            </a:r>
          </a:p>
          <a:p>
            <a:pPr marL="0" indent="0" algn="l"/>
            <a:endParaRPr lang="en-IN" sz="16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600" dirty="0"/>
              <a:t>Domain Generalization (DG) </a:t>
            </a:r>
          </a:p>
          <a:p>
            <a:pPr marL="0" indent="0" algn="l"/>
            <a:endParaRPr lang="en-IN" sz="16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600" dirty="0"/>
              <a:t>Pre-trained Feature Extractors 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10369-10E4-4E1C-A6E0-654C47999E36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6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7A60D7-D701-403C-9E23-378DA9E0CE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1" t="9096" r="3465" b="9871"/>
          <a:stretch/>
        </p:blipFill>
        <p:spPr>
          <a:xfrm>
            <a:off x="3965943" y="824466"/>
            <a:ext cx="4164420" cy="34945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63871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>
            <a:spLocks noGrp="1"/>
          </p:cNvSpPr>
          <p:nvPr>
            <p:ph type="subTitle" idx="1"/>
          </p:nvPr>
        </p:nvSpPr>
        <p:spPr>
          <a:xfrm>
            <a:off x="415556" y="646589"/>
            <a:ext cx="3976577" cy="3407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Detect Faces First, Then Extract Expression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Feature Extraction : Uses a fixed pre-trained model (</a:t>
            </a:r>
            <a:r>
              <a:rPr lang="en-GB" b="1" dirty="0"/>
              <a:t>CLIP</a:t>
            </a:r>
            <a:r>
              <a:rPr lang="en-GB" dirty="0"/>
              <a:t>) to extract face features, ensuring domain generalization.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Mask Learning : Sigmoid Mask Learning on CLIP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Channel Separation : Avoids fully connected layers by dividing features into seven expression classes.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Channel-Diverse Loss for Better Feature Separation </a:t>
            </a:r>
            <a:endParaRPr dirty="0"/>
          </a:p>
        </p:txBody>
      </p:sp>
      <p:sp>
        <p:nvSpPr>
          <p:cNvPr id="403" name="Google Shape;403;p47"/>
          <p:cNvSpPr txBox="1">
            <a:spLocks noGrp="1"/>
          </p:cNvSpPr>
          <p:nvPr>
            <p:ph type="subTitle" idx="4"/>
          </p:nvPr>
        </p:nvSpPr>
        <p:spPr>
          <a:xfrm>
            <a:off x="318678" y="123089"/>
            <a:ext cx="3619800" cy="5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Methodology: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F7C07-E71C-4C6F-B2B4-1C99EE2961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29" t="5532" r="4188" b="3999"/>
          <a:stretch/>
        </p:blipFill>
        <p:spPr>
          <a:xfrm>
            <a:off x="4392133" y="899691"/>
            <a:ext cx="4396740" cy="2705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5C455-A1CE-429A-9D4F-06B5075D98F9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7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6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9"/>
          <p:cNvSpPr txBox="1">
            <a:spLocks noGrp="1"/>
          </p:cNvSpPr>
          <p:nvPr>
            <p:ph type="title"/>
          </p:nvPr>
        </p:nvSpPr>
        <p:spPr>
          <a:xfrm>
            <a:off x="328501" y="248700"/>
            <a:ext cx="668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/>
              <a:t>Implementation :</a:t>
            </a:r>
            <a:endParaRPr sz="2800" dirty="0"/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1080422" y="875400"/>
            <a:ext cx="6983156" cy="3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Model Architecture :</a:t>
            </a:r>
          </a:p>
          <a:p>
            <a:pPr marL="139700" lvl="0" indent="0">
              <a:buNone/>
            </a:pPr>
            <a:r>
              <a:rPr lang="en-GB" dirty="0"/>
              <a:t>	</a:t>
            </a:r>
            <a:r>
              <a:rPr lang="en-IN" dirty="0"/>
              <a:t>Backbone Model: ResNet-18</a:t>
            </a:r>
          </a:p>
          <a:p>
            <a:r>
              <a:rPr lang="en-IN" dirty="0"/>
              <a:t>Feature Extraction Model: CLIP VIT-B/32 (Vision Transformer)</a:t>
            </a:r>
          </a:p>
          <a:p>
            <a:r>
              <a:rPr lang="en-IN" dirty="0"/>
              <a:t>Training Configuration &amp; Hyperparameters</a:t>
            </a:r>
          </a:p>
          <a:p>
            <a:pPr marL="139700" lvl="0" indent="0">
              <a:buNone/>
            </a:pPr>
            <a:r>
              <a:rPr lang="en-GB" dirty="0"/>
              <a:t>	</a:t>
            </a:r>
            <a:r>
              <a:rPr lang="en-IN" dirty="0"/>
              <a:t>Optimizer : Adam</a:t>
            </a:r>
          </a:p>
          <a:p>
            <a:pPr marL="139700" lvl="0" indent="0">
              <a:buNone/>
            </a:pPr>
            <a:r>
              <a:rPr lang="en-GB" dirty="0"/>
              <a:t>	</a:t>
            </a:r>
            <a:r>
              <a:rPr lang="en-IN" dirty="0"/>
              <a:t>Weight decay = 0.0001 </a:t>
            </a:r>
          </a:p>
          <a:p>
            <a:r>
              <a:rPr lang="en-IN" dirty="0"/>
              <a:t>Learning Rate &amp; Scheduler :</a:t>
            </a:r>
          </a:p>
          <a:p>
            <a:pPr marL="139700" lvl="0" indent="0">
              <a:buNone/>
            </a:pPr>
            <a:r>
              <a:rPr lang="en-GB" dirty="0"/>
              <a:t>	Initial Learning Rate (η) = 0.0002 </a:t>
            </a:r>
          </a:p>
          <a:p>
            <a:pPr marL="139700" lvl="0" indent="0">
              <a:buNone/>
            </a:pPr>
            <a:r>
              <a:rPr lang="en-GB" dirty="0"/>
              <a:t>	</a:t>
            </a:r>
            <a:r>
              <a:rPr lang="en-IN" dirty="0"/>
              <a:t>Scheduler: ExponentialLR : Gamma = 0.9</a:t>
            </a:r>
          </a:p>
          <a:p>
            <a:r>
              <a:rPr lang="en-IN" dirty="0"/>
              <a:t>Loss Function Weights :</a:t>
            </a:r>
          </a:p>
          <a:p>
            <a:pPr marL="139700" lvl="0" indent="0">
              <a:buNone/>
            </a:pPr>
            <a:r>
              <a:rPr lang="en-GB" dirty="0"/>
              <a:t>	</a:t>
            </a:r>
            <a:r>
              <a:rPr lang="en-IN" dirty="0"/>
              <a:t>Channel-wise loss weight = 1.5</a:t>
            </a:r>
          </a:p>
          <a:p>
            <a:pPr marL="139700" lvl="0" indent="0">
              <a:buNone/>
            </a:pPr>
            <a:r>
              <a:rPr lang="en-GB" dirty="0"/>
              <a:t>	</a:t>
            </a:r>
            <a:r>
              <a:rPr lang="en-IN" dirty="0"/>
              <a:t>Diversity loss weight = 5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85076-6E24-4771-83C2-08EA518C1545}"/>
              </a:ext>
            </a:extLst>
          </p:cNvPr>
          <p:cNvSpPr txBox="1"/>
          <p:nvPr/>
        </p:nvSpPr>
        <p:spPr>
          <a:xfrm>
            <a:off x="8739963" y="4720857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9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04884A5B-FF6A-4B11-9B57-11DA59574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" y="719762"/>
            <a:ext cx="7577647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Step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he input image is augmented by adding Gaussian noise and applying horizontal flipping to enhance the model's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u="sng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Step 2: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he image is passed through the CLIP model, which uses a Vision Transformer (ViT) to extract high-level semantic features. These features are stored in a vector referred to as 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u="sng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Step 3: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In parallel, the same image is also passed through a ResNet-18 model up to its second-last layer (typically the pooling layer). The output is then flattened to prepare it for further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u="sng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Step 4: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A sigmoid activation is applied to the ResNet output to generate a soft mask. This mask is then applied element-wise to the CLIP features by multiplying the two vectors.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u="sng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Step 5: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Finally, the masked CLIP features are passed through a fully connected (FC) layer to produce the final classification output.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2">
                  <a:lumMod val="50000"/>
                </a:schemeClr>
              </a:solidFill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This approach effectively combines the localized visual features from ResNet and the semantic-rich features from CLIP to make accurate predictions.</a:t>
            </a:r>
          </a:p>
        </p:txBody>
      </p:sp>
      <p:sp>
        <p:nvSpPr>
          <p:cNvPr id="3" name="Google Shape;517;p53">
            <a:extLst>
              <a:ext uri="{FF2B5EF4-FFF2-40B4-BE49-F238E27FC236}">
                <a16:creationId xmlns:a16="http://schemas.microsoft.com/office/drawing/2014/main" id="{20FD8AAA-3760-4B8B-AF06-6CCA9EF30081}"/>
              </a:ext>
            </a:extLst>
          </p:cNvPr>
          <p:cNvSpPr txBox="1">
            <a:spLocks/>
          </p:cNvSpPr>
          <p:nvPr/>
        </p:nvSpPr>
        <p:spPr>
          <a:xfrm>
            <a:off x="917745" y="130255"/>
            <a:ext cx="2823342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chemeClr val="bg2">
                    <a:lumMod val="5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Framework: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E0D2B-2AF5-4032-9E38-AA16ADA42313}"/>
              </a:ext>
            </a:extLst>
          </p:cNvPr>
          <p:cNvSpPr txBox="1"/>
          <p:nvPr/>
        </p:nvSpPr>
        <p:spPr>
          <a:xfrm>
            <a:off x="8555665" y="4720857"/>
            <a:ext cx="53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10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1;p38">
            <a:extLst>
              <a:ext uri="{FF2B5EF4-FFF2-40B4-BE49-F238E27FC236}">
                <a16:creationId xmlns:a16="http://schemas.microsoft.com/office/drawing/2014/main" id="{4603CF74-E8F8-4A5A-92A8-55A776F6F1A0}"/>
              </a:ext>
            </a:extLst>
          </p:cNvPr>
          <p:cNvSpPr txBox="1">
            <a:spLocks/>
          </p:cNvSpPr>
          <p:nvPr/>
        </p:nvSpPr>
        <p:spPr>
          <a:xfrm>
            <a:off x="618337" y="728773"/>
            <a:ext cx="8292697" cy="184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dirty="0"/>
          </a:p>
        </p:txBody>
      </p:sp>
      <p:sp>
        <p:nvSpPr>
          <p:cNvPr id="3" name="Google Shape;389;p46">
            <a:extLst>
              <a:ext uri="{FF2B5EF4-FFF2-40B4-BE49-F238E27FC236}">
                <a16:creationId xmlns:a16="http://schemas.microsoft.com/office/drawing/2014/main" id="{8FABED6A-7B78-4162-BCBC-CD11E354AB9C}"/>
              </a:ext>
            </a:extLst>
          </p:cNvPr>
          <p:cNvSpPr txBox="1">
            <a:spLocks/>
          </p:cNvSpPr>
          <p:nvPr/>
        </p:nvSpPr>
        <p:spPr>
          <a:xfrm rot="156305" flipV="1">
            <a:off x="391218" y="2904591"/>
            <a:ext cx="8005786" cy="550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l"/>
            <a:endParaRPr lang="en-GB" sz="1200" dirty="0"/>
          </a:p>
        </p:txBody>
      </p:sp>
      <p:sp>
        <p:nvSpPr>
          <p:cNvPr id="4" name="Google Shape;517;p53">
            <a:extLst>
              <a:ext uri="{FF2B5EF4-FFF2-40B4-BE49-F238E27FC236}">
                <a16:creationId xmlns:a16="http://schemas.microsoft.com/office/drawing/2014/main" id="{78AB5EC0-C0E6-4ADA-B86B-D4C99E2E6BBB}"/>
              </a:ext>
            </a:extLst>
          </p:cNvPr>
          <p:cNvSpPr txBox="1">
            <a:spLocks/>
          </p:cNvSpPr>
          <p:nvPr/>
        </p:nvSpPr>
        <p:spPr>
          <a:xfrm>
            <a:off x="1151902" y="239006"/>
            <a:ext cx="3749666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chemeClr val="bg2">
                    <a:lumMod val="5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Losses used 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041F2AC-F621-4F70-8A08-5E96AFBE9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624" y="1017478"/>
            <a:ext cx="708075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Classification Loss (Cls. loss)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Compares the predicted class with the true label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lbert Sans" panose="020B0604020202020204" charset="0"/>
              </a:rPr>
              <a:t>Usually done using crossentropyloss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Seperation loss: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Calculated by comparing features across different classes in the batch.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Encourages features from </a:t>
            </a:r>
            <a:r>
              <a:rPr lang="en-GB" b="1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different classes to be more distinct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Helps reduce overlap in feature space.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b="1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Diverse Loss: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Encourages different neurons (dimensions) to capture </a:t>
            </a:r>
            <a:r>
              <a:rPr lang="en-GB" b="1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different aspects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 of the data.</a:t>
            </a:r>
          </a:p>
          <a:p>
            <a:pPr lvl="1"/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Promotes </a:t>
            </a:r>
            <a:r>
              <a:rPr lang="en-GB" b="1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feature diversity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, so the model doesn’t overly rely on just a few dimensions.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At last all loses are added and used to perform backpropogation and update the trainable parameters.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lbert Sans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5E0A5-3747-4ED2-8F70-4A2E0CA0D69D}"/>
              </a:ext>
            </a:extLst>
          </p:cNvPr>
          <p:cNvSpPr txBox="1"/>
          <p:nvPr/>
        </p:nvSpPr>
        <p:spPr>
          <a:xfrm>
            <a:off x="8640726" y="4720857"/>
            <a:ext cx="44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11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FE7DB-0C8E-4350-A2B1-60F3EA42D669}"/>
              </a:ext>
            </a:extLst>
          </p:cNvPr>
          <p:cNvSpPr txBox="1"/>
          <p:nvPr/>
        </p:nvSpPr>
        <p:spPr>
          <a:xfrm>
            <a:off x="8818643" y="4706162"/>
            <a:ext cx="3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8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FBA3F-3F14-4C70-B75F-CC8F34B5B859}"/>
              </a:ext>
            </a:extLst>
          </p:cNvPr>
          <p:cNvSpPr txBox="1"/>
          <p:nvPr/>
        </p:nvSpPr>
        <p:spPr>
          <a:xfrm>
            <a:off x="294699" y="48071"/>
            <a:ext cx="2870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>
                    <a:lumMod val="5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Datasets :</a:t>
            </a:r>
            <a:endParaRPr lang="en-IN" sz="2400" b="1" dirty="0">
              <a:solidFill>
                <a:schemeClr val="bg2">
                  <a:lumMod val="50000"/>
                </a:schemeClr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CC0720-CD32-49F6-B5A6-01FABD28D6D3}"/>
              </a:ext>
            </a:extLst>
          </p:cNvPr>
          <p:cNvSpPr txBox="1"/>
          <p:nvPr/>
        </p:nvSpPr>
        <p:spPr>
          <a:xfrm>
            <a:off x="5068185" y="962937"/>
            <a:ext cx="3671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I used RAF-DB Dataset for training and tested on RAF-DB and FERPlus datasets.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lbert Sans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F48CD-8D1F-4FCD-88A0-78B60A38D24F}"/>
              </a:ext>
            </a:extLst>
          </p:cNvPr>
          <p:cNvSpPr txBox="1"/>
          <p:nvPr/>
        </p:nvSpPr>
        <p:spPr>
          <a:xfrm>
            <a:off x="609421" y="4182942"/>
            <a:ext cx="3558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I used FERPlus dataset for training and tested on RAF-DB and FERPlus datasets.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lbert Sans" panose="020B060402020202020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F5E97C-60EC-47C8-ACDE-B76C880BFC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3" t="5788" r="3783" b="5737"/>
          <a:stretch/>
        </p:blipFill>
        <p:spPr>
          <a:xfrm>
            <a:off x="4802725" y="1711004"/>
            <a:ext cx="4019108" cy="33173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6F3484-3E0C-40F6-96E3-A2A792C7A7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76" t="6582" r="3865" b="6520"/>
          <a:stretch/>
        </p:blipFill>
        <p:spPr>
          <a:xfrm>
            <a:off x="294699" y="628352"/>
            <a:ext cx="3873085" cy="33173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62F4FE-5376-4809-951D-F801515FB6FE}"/>
              </a:ext>
            </a:extLst>
          </p:cNvPr>
          <p:cNvSpPr/>
          <p:nvPr/>
        </p:nvSpPr>
        <p:spPr>
          <a:xfrm>
            <a:off x="4876533" y="68006"/>
            <a:ext cx="41157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Li, Shan, and Weihong Deng. "Reliable crowdsourcing and deep locality-preserving learning for unconstrained facial expression recognition." </a:t>
            </a:r>
            <a:r>
              <a:rPr lang="en-GB" sz="9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IEEE Transactions on Image Processing</a:t>
            </a:r>
            <a:r>
              <a:rPr lang="en-GB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, vol. 28, no. 1, 2019, pp. 356–370.</a:t>
            </a:r>
            <a:endParaRPr lang="en-IN" sz="9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06E4C12-4809-43D5-9D67-71C20A1F09F2}"/>
              </a:ext>
            </a:extLst>
          </p:cNvPr>
          <p:cNvSpPr/>
          <p:nvPr/>
        </p:nvSpPr>
        <p:spPr>
          <a:xfrm>
            <a:off x="4428195" y="1082780"/>
            <a:ext cx="379579" cy="283535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5C037DD-A1D7-4899-ADEF-DD9821D3EC4E}"/>
              </a:ext>
            </a:extLst>
          </p:cNvPr>
          <p:cNvSpPr/>
          <p:nvPr/>
        </p:nvSpPr>
        <p:spPr>
          <a:xfrm rot="10800000">
            <a:off x="4192421" y="4284177"/>
            <a:ext cx="379579" cy="283535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3"/>
          <p:cNvSpPr txBox="1">
            <a:spLocks noGrp="1"/>
          </p:cNvSpPr>
          <p:nvPr>
            <p:ph type="title"/>
          </p:nvPr>
        </p:nvSpPr>
        <p:spPr>
          <a:xfrm>
            <a:off x="1050632" y="220056"/>
            <a:ext cx="15350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Results: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ADD0A-7A45-4EDE-8DC6-4841B02B2ECD}"/>
              </a:ext>
            </a:extLst>
          </p:cNvPr>
          <p:cNvSpPr txBox="1"/>
          <p:nvPr/>
        </p:nvSpPr>
        <p:spPr>
          <a:xfrm>
            <a:off x="8576930" y="4720857"/>
            <a:ext cx="51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12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B032F9-BC76-4BF4-B6CE-B08801BD1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72140"/>
              </p:ext>
            </p:extLst>
          </p:nvPr>
        </p:nvGraphicFramePr>
        <p:xfrm>
          <a:off x="1050632" y="1319471"/>
          <a:ext cx="6967872" cy="1994241"/>
        </p:xfrm>
        <a:graphic>
          <a:graphicData uri="http://schemas.openxmlformats.org/drawingml/2006/table">
            <a:tbl>
              <a:tblPr firstRow="1" bandRow="1">
                <a:tableStyleId>{DDF5F3A4-C8FE-4C7E-BEF0-09E01CFBBA96}</a:tableStyleId>
              </a:tblPr>
              <a:tblGrid>
                <a:gridCol w="1741968">
                  <a:extLst>
                    <a:ext uri="{9D8B030D-6E8A-4147-A177-3AD203B41FA5}">
                      <a16:colId xmlns:a16="http://schemas.microsoft.com/office/drawing/2014/main" val="1636052159"/>
                    </a:ext>
                  </a:extLst>
                </a:gridCol>
                <a:gridCol w="1741968">
                  <a:extLst>
                    <a:ext uri="{9D8B030D-6E8A-4147-A177-3AD203B41FA5}">
                      <a16:colId xmlns:a16="http://schemas.microsoft.com/office/drawing/2014/main" val="3900477208"/>
                    </a:ext>
                  </a:extLst>
                </a:gridCol>
                <a:gridCol w="1736692">
                  <a:extLst>
                    <a:ext uri="{9D8B030D-6E8A-4147-A177-3AD203B41FA5}">
                      <a16:colId xmlns:a16="http://schemas.microsoft.com/office/drawing/2014/main" val="443984800"/>
                    </a:ext>
                  </a:extLst>
                </a:gridCol>
                <a:gridCol w="1747244">
                  <a:extLst>
                    <a:ext uri="{9D8B030D-6E8A-4147-A177-3AD203B41FA5}">
                      <a16:colId xmlns:a16="http://schemas.microsoft.com/office/drawing/2014/main" val="2433970666"/>
                    </a:ext>
                  </a:extLst>
                </a:gridCol>
              </a:tblGrid>
              <a:tr h="45971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Training Dataset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Testing Dataset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Accuracy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Our Accuracy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346363"/>
                  </a:ext>
                </a:extLst>
              </a:tr>
              <a:tr h="35441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RAF-DB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RAF-DB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88.72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84.29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39123"/>
                  </a:ext>
                </a:extLst>
              </a:tr>
              <a:tr h="368595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FERPlus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FERPlus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89.51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86.83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549894"/>
                  </a:ext>
                </a:extLst>
              </a:tr>
              <a:tr h="375684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RAF-DB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FERPlus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73.16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86.20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789855"/>
                  </a:ext>
                </a:extLst>
              </a:tr>
              <a:tr h="435833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FERPlus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RAF-DB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72.91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85.04</a:t>
                      </a:r>
                      <a:endParaRPr lang="en-IN" sz="12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5496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/>
          <p:nvPr/>
        </p:nvSpPr>
        <p:spPr>
          <a:xfrm>
            <a:off x="510362" y="190093"/>
            <a:ext cx="7825564" cy="95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dk1"/>
                </a:solidFill>
                <a:latin typeface="Poppins" panose="020B0604020202020204" charset="0"/>
                <a:ea typeface="Albert Sans"/>
                <a:cs typeface="Poppins" panose="020B0604020202020204" charset="0"/>
                <a:sym typeface="Albert Sans"/>
              </a:rPr>
              <a:t>Performance of our method under different backbones:</a:t>
            </a:r>
            <a:endParaRPr sz="2400" b="1" dirty="0">
              <a:solidFill>
                <a:schemeClr val="dk1"/>
              </a:solidFill>
              <a:latin typeface="Poppins" panose="020B0604020202020204" charset="0"/>
              <a:ea typeface="Albert Sans"/>
              <a:cs typeface="Poppins" panose="020B0604020202020204" charset="0"/>
              <a:sym typeface="Albert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E34CF-10C7-4C5C-91D7-2311D1EEDD3D}"/>
              </a:ext>
            </a:extLst>
          </p:cNvPr>
          <p:cNvSpPr txBox="1"/>
          <p:nvPr/>
        </p:nvSpPr>
        <p:spPr>
          <a:xfrm>
            <a:off x="8612372" y="4720857"/>
            <a:ext cx="47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13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EEEE61-D724-4364-966F-633E54D24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663011"/>
              </p:ext>
            </p:extLst>
          </p:nvPr>
        </p:nvGraphicFramePr>
        <p:xfrm>
          <a:off x="567690" y="1403350"/>
          <a:ext cx="8008620" cy="2595880"/>
        </p:xfrm>
        <a:graphic>
          <a:graphicData uri="http://schemas.openxmlformats.org/drawingml/2006/table">
            <a:tbl>
              <a:tblPr firstRow="1" bandRow="1">
                <a:tableStyleId>{DDF5F3A4-C8FE-4C7E-BEF0-09E01CFBBA96}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1731123072"/>
                    </a:ext>
                  </a:extLst>
                </a:gridCol>
                <a:gridCol w="998220">
                  <a:extLst>
                    <a:ext uri="{9D8B030D-6E8A-4147-A177-3AD203B41FA5}">
                      <a16:colId xmlns:a16="http://schemas.microsoft.com/office/drawing/2014/main" val="2385375605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1811785850"/>
                    </a:ext>
                  </a:extLst>
                </a:gridCol>
                <a:gridCol w="1050471">
                  <a:extLst>
                    <a:ext uri="{9D8B030D-6E8A-4147-A177-3AD203B41FA5}">
                      <a16:colId xmlns:a16="http://schemas.microsoft.com/office/drawing/2014/main" val="49390088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658658817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360099569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36855378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Backbone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RAF-DB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FERPlus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Affect Net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SFEW2.0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MMA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Mean</a:t>
                      </a:r>
                      <a:endParaRPr lang="en-IN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786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MobileNet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84.65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61.33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43.45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43.21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40.67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54.66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943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MobileNet+our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85.07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64.97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42.91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45.45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43.11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56.30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46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Resnet-18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88.40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58.05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43.25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42.76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42.61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55.01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3259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Resnet-18+our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88.72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73.16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45.86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52.86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56,80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63.48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3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Resnet-50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88.49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70.13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47.46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49.94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48.90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60.98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849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Resnet-50+our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89.05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75.26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47.49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51.07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57.46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lbert Sans" panose="020B0604020202020204" charset="0"/>
                        </a:rPr>
                        <a:t>64.07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  <a:latin typeface="Albert Sans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1896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"/>
          <p:cNvSpPr txBox="1">
            <a:spLocks noGrp="1"/>
          </p:cNvSpPr>
          <p:nvPr>
            <p:ph type="subTitle" idx="2"/>
          </p:nvPr>
        </p:nvSpPr>
        <p:spPr>
          <a:xfrm>
            <a:off x="1307238" y="1982938"/>
            <a:ext cx="6529523" cy="11776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dirty="0"/>
              <a:t>I have implemented a generalizable FER method that significantly improves zero-shot performance across different datasets. </a:t>
            </a:r>
          </a:p>
          <a:p>
            <a:r>
              <a:rPr lang="en-GB" sz="1600" dirty="0"/>
              <a:t>By leveraging pre-trained models and selective feature masking, the model avoids 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overfitting and adapts better </a:t>
            </a:r>
            <a:r>
              <a:rPr lang="en-GB" sz="1600" dirty="0"/>
              <a:t>to unseen domains.</a:t>
            </a:r>
            <a:endParaRPr sz="1600" dirty="0"/>
          </a:p>
        </p:txBody>
      </p:sp>
      <p:sp>
        <p:nvSpPr>
          <p:cNvPr id="517" name="Google Shape;517;p53"/>
          <p:cNvSpPr txBox="1">
            <a:spLocks noGrp="1"/>
          </p:cNvSpPr>
          <p:nvPr>
            <p:ph type="subTitle" idx="3"/>
          </p:nvPr>
        </p:nvSpPr>
        <p:spPr>
          <a:xfrm>
            <a:off x="1307238" y="896767"/>
            <a:ext cx="215595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Conclusion: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CD4DB-5D38-422D-88E1-F6BF540D901B}"/>
              </a:ext>
            </a:extLst>
          </p:cNvPr>
          <p:cNvSpPr txBox="1"/>
          <p:nvPr/>
        </p:nvSpPr>
        <p:spPr>
          <a:xfrm>
            <a:off x="8541488" y="4720857"/>
            <a:ext cx="545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14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"/>
          <p:cNvSpPr txBox="1">
            <a:spLocks noGrp="1"/>
          </p:cNvSpPr>
          <p:nvPr>
            <p:ph type="subTitle" idx="1"/>
          </p:nvPr>
        </p:nvSpPr>
        <p:spPr>
          <a:xfrm>
            <a:off x="781813" y="1573022"/>
            <a:ext cx="7491036" cy="1786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dirty="0"/>
              <a:t>Exploring different pre-trained models for better feature extraction.</a:t>
            </a:r>
          </a:p>
          <a:p>
            <a:pPr marL="139700" indent="0">
              <a:buNone/>
            </a:pPr>
            <a:r>
              <a:rPr lang="en-GB" sz="1600" dirty="0"/>
              <a:t>	Dino, ArgFace, GGFace</a:t>
            </a:r>
          </a:p>
          <a:p>
            <a:r>
              <a:rPr lang="en-GB" sz="1600" dirty="0"/>
              <a:t>Extending the approach to multi-label or compound expressions.</a:t>
            </a:r>
          </a:p>
          <a:p>
            <a:r>
              <a:rPr lang="en-GB" sz="1600" dirty="0"/>
              <a:t>Investigating more robust loss functions to further improve generalization.</a:t>
            </a:r>
          </a:p>
          <a:p>
            <a:pPr marL="139700" indent="0">
              <a:buNone/>
            </a:pPr>
            <a:r>
              <a:rPr lang="en-GB" sz="1600" dirty="0"/>
              <a:t>	Constrative loss</a:t>
            </a:r>
          </a:p>
        </p:txBody>
      </p:sp>
      <p:sp>
        <p:nvSpPr>
          <p:cNvPr id="518" name="Google Shape;518;p53"/>
          <p:cNvSpPr txBox="1">
            <a:spLocks noGrp="1"/>
          </p:cNvSpPr>
          <p:nvPr>
            <p:ph type="subTitle" idx="4"/>
          </p:nvPr>
        </p:nvSpPr>
        <p:spPr>
          <a:xfrm>
            <a:off x="781813" y="765540"/>
            <a:ext cx="2996272" cy="5766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Future Work: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ECFE7-094D-45F7-87E8-3C88C0480C04}"/>
              </a:ext>
            </a:extLst>
          </p:cNvPr>
          <p:cNvSpPr txBox="1"/>
          <p:nvPr/>
        </p:nvSpPr>
        <p:spPr>
          <a:xfrm>
            <a:off x="8612372" y="4720857"/>
            <a:ext cx="47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15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61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8"/>
          <p:cNvSpPr txBox="1">
            <a:spLocks noGrp="1"/>
          </p:cNvSpPr>
          <p:nvPr>
            <p:ph type="title"/>
          </p:nvPr>
        </p:nvSpPr>
        <p:spPr>
          <a:xfrm>
            <a:off x="453757" y="231235"/>
            <a:ext cx="36226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Acknowledgements:</a:t>
            </a:r>
            <a:endParaRPr sz="2400" dirty="0"/>
          </a:p>
        </p:txBody>
      </p:sp>
      <p:sp>
        <p:nvSpPr>
          <p:cNvPr id="3" name="Google Shape;311;p38">
            <a:extLst>
              <a:ext uri="{FF2B5EF4-FFF2-40B4-BE49-F238E27FC236}">
                <a16:creationId xmlns:a16="http://schemas.microsoft.com/office/drawing/2014/main" id="{DB18E42D-6BB9-44B6-9224-814F352176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1347" y="1246937"/>
            <a:ext cx="5818445" cy="184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GB" dirty="0"/>
              <a:t>Sri SVSN . Sarma</a:t>
            </a:r>
          </a:p>
          <a:p>
            <a:pPr marL="0" indent="0" algn="l"/>
            <a:r>
              <a:rPr lang="en-GB" dirty="0"/>
              <a:t>Assistant Professor, DMACS, Nandigiri Campus</a:t>
            </a:r>
          </a:p>
          <a:p>
            <a:pPr marL="0" indent="0" algn="l"/>
            <a:endParaRPr lang="en-GB" dirty="0"/>
          </a:p>
          <a:p>
            <a:pPr marL="0" indent="0" algn="l"/>
            <a:r>
              <a:rPr lang="en-GB" dirty="0"/>
              <a:t>Sri Darshan Gera</a:t>
            </a:r>
          </a:p>
          <a:p>
            <a:pPr marL="0" indent="0"/>
            <a:r>
              <a:rPr lang="en-IN" dirty="0"/>
              <a:t>Assistant Professor, DMACS, Prashanthi Nilayam Campus, SSSIHL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0E167-6F9F-491E-A2A7-298DC51D1268}"/>
              </a:ext>
            </a:extLst>
          </p:cNvPr>
          <p:cNvSpPr txBox="1"/>
          <p:nvPr/>
        </p:nvSpPr>
        <p:spPr>
          <a:xfrm>
            <a:off x="8591107" y="4720857"/>
            <a:ext cx="49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16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9"/>
          <p:cNvSpPr txBox="1">
            <a:spLocks noGrp="1"/>
          </p:cNvSpPr>
          <p:nvPr>
            <p:ph type="title"/>
          </p:nvPr>
        </p:nvSpPr>
        <p:spPr>
          <a:xfrm>
            <a:off x="1890252" y="563670"/>
            <a:ext cx="24862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R</a:t>
            </a:r>
            <a:r>
              <a:rPr lang="en" sz="2400" dirty="0"/>
              <a:t>eferences:</a:t>
            </a:r>
            <a:endParaRPr sz="2400" dirty="0"/>
          </a:p>
        </p:txBody>
      </p:sp>
      <p:sp>
        <p:nvSpPr>
          <p:cNvPr id="691" name="Google Shape;691;p59"/>
          <p:cNvSpPr txBox="1">
            <a:spLocks noGrp="1"/>
          </p:cNvSpPr>
          <p:nvPr>
            <p:ph type="subTitle" idx="1"/>
          </p:nvPr>
        </p:nvSpPr>
        <p:spPr>
          <a:xfrm>
            <a:off x="1725202" y="1391379"/>
            <a:ext cx="7021507" cy="2991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Albert Sans" panose="020B0604020202020204" charset="0"/>
              </a:rPr>
              <a:t>Zhang, Yuhang, et al. "Generalizable Facial Expression Recognition." European Conference on Computer Vision. Cham: Springer Nature Switzerland, 2024.</a:t>
            </a:r>
            <a:endParaRPr lang="fr-FR" dirty="0"/>
          </a:p>
          <a:p>
            <a:pPr fontAlgn="base"/>
            <a:r>
              <a:rPr lang="en-GB" dirty="0"/>
              <a:t>PyTorch Tutorials. Custom Dataset and DataLoaders Tutorial</a:t>
            </a:r>
          </a:p>
          <a:p>
            <a:pPr fontAlgn="base"/>
            <a:r>
              <a:rPr lang="fr-FR" dirty="0"/>
              <a:t>“</a:t>
            </a:r>
            <a:r>
              <a:rPr lang="fr-FR" dirty="0">
                <a:hlinkClick r:id="rId3"/>
              </a:rPr>
              <a:t>https://pytorch.org/tutorials/beginner/data_loading_tutorial.html</a:t>
            </a:r>
            <a:r>
              <a:rPr lang="fr-FR" dirty="0"/>
              <a:t>”.</a:t>
            </a:r>
          </a:p>
          <a:p>
            <a:pPr fontAlgn="base"/>
            <a:r>
              <a:rPr lang="fr-FR" dirty="0"/>
              <a:t>Medium Article “</a:t>
            </a:r>
            <a:r>
              <a:rPr lang="fr-FR" dirty="0">
                <a:hlinkClick r:id="rId4"/>
              </a:rPr>
              <a:t>https://medium.com/analytics-vidhya/creating-a-custom-dataset-and-dataloader-in-pytorch-76f210a1df5d</a:t>
            </a:r>
            <a:r>
              <a:rPr lang="fr-FR" dirty="0"/>
              <a:t>”.</a:t>
            </a:r>
          </a:p>
          <a:p>
            <a:pPr fontAlgn="base"/>
            <a:r>
              <a:rPr lang="fr-FR" dirty="0"/>
              <a:t>Coursera course “https://www.coursera.org/learn/</a:t>
            </a:r>
            <a:r>
              <a:rPr lang="fr-FR" dirty="0" err="1"/>
              <a:t>convolutional</a:t>
            </a:r>
            <a:r>
              <a:rPr lang="fr-FR" dirty="0"/>
              <a:t>-neural-networks/home”.</a:t>
            </a:r>
            <a:br>
              <a:rPr lang="fr-FR" dirty="0"/>
            </a:br>
            <a:br>
              <a:rPr lang="fr-FR" dirty="0"/>
            </a:br>
            <a:endParaRPr lang="en-IN" dirty="0"/>
          </a:p>
          <a:p>
            <a:pPr marL="127000" lvl="0" indent="0">
              <a:buNone/>
            </a:pPr>
            <a:endParaRPr lang="en-GB" dirty="0"/>
          </a:p>
          <a:p>
            <a:pPr marL="127000" lvl="0" indent="0">
              <a:buNone/>
            </a:pPr>
            <a:endParaRPr dirty="0"/>
          </a:p>
        </p:txBody>
      </p:sp>
      <p:grpSp>
        <p:nvGrpSpPr>
          <p:cNvPr id="692" name="Google Shape;692;p59"/>
          <p:cNvGrpSpPr/>
          <p:nvPr/>
        </p:nvGrpSpPr>
        <p:grpSpPr>
          <a:xfrm rot="10800000">
            <a:off x="-754600" y="-3412175"/>
            <a:ext cx="2479800" cy="6297300"/>
            <a:chOff x="6564450" y="1268000"/>
            <a:chExt cx="2479800" cy="6297300"/>
          </a:xfrm>
        </p:grpSpPr>
        <p:sp>
          <p:nvSpPr>
            <p:cNvPr id="693" name="Google Shape;693;p59"/>
            <p:cNvSpPr/>
            <p:nvPr/>
          </p:nvSpPr>
          <p:spPr>
            <a:xfrm>
              <a:off x="7417650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694" name="Google Shape;694;p59"/>
            <p:cNvSpPr/>
            <p:nvPr/>
          </p:nvSpPr>
          <p:spPr>
            <a:xfrm>
              <a:off x="6564450" y="2822300"/>
              <a:ext cx="1071600" cy="4365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695" name="Google Shape;695;p59"/>
            <p:cNvSpPr/>
            <p:nvPr/>
          </p:nvSpPr>
          <p:spPr>
            <a:xfrm>
              <a:off x="6890850" y="2109800"/>
              <a:ext cx="418800" cy="418800"/>
            </a:xfrm>
            <a:prstGeom prst="ellipse">
              <a:avLst/>
            </a:prstGeom>
            <a:solidFill>
              <a:srgbClr val="F2557A">
                <a:alpha val="65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A91018-5E38-468F-B828-E0670426B09C}"/>
              </a:ext>
            </a:extLst>
          </p:cNvPr>
          <p:cNvSpPr txBox="1"/>
          <p:nvPr/>
        </p:nvSpPr>
        <p:spPr>
          <a:xfrm>
            <a:off x="8541488" y="4720857"/>
            <a:ext cx="545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17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B0E167-6F9F-491E-A2A7-298DC51D1268}"/>
              </a:ext>
            </a:extLst>
          </p:cNvPr>
          <p:cNvSpPr txBox="1"/>
          <p:nvPr/>
        </p:nvSpPr>
        <p:spPr>
          <a:xfrm>
            <a:off x="8591107" y="4720857"/>
            <a:ext cx="49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16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5C4B96-8062-490C-9862-32028E67A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638" y="1647925"/>
            <a:ext cx="6191676" cy="2133046"/>
          </a:xfrm>
        </p:spPr>
        <p:txBody>
          <a:bodyPr/>
          <a:lstStyle/>
          <a:p>
            <a:pPr marL="482600" indent="-342900">
              <a:buAutoNum type="arabicPeriod"/>
            </a:pPr>
            <a:r>
              <a:rPr lang="en-GB" dirty="0"/>
              <a:t>Jugular Vein Detection</a:t>
            </a:r>
          </a:p>
          <a:p>
            <a:pPr marL="139700" indent="0"/>
            <a:r>
              <a:rPr lang="en-GB" dirty="0"/>
              <a:t>	collecting dataset</a:t>
            </a:r>
          </a:p>
          <a:p>
            <a:pPr marL="139700" indent="0"/>
            <a:r>
              <a:rPr lang="en-GB" dirty="0"/>
              <a:t>	training on model</a:t>
            </a:r>
          </a:p>
          <a:p>
            <a:pPr marL="139700" indent="0"/>
            <a:r>
              <a:rPr lang="en-GB" dirty="0"/>
              <a:t>	testing</a:t>
            </a:r>
          </a:p>
          <a:p>
            <a:pPr marL="139700" indent="0"/>
            <a:r>
              <a:rPr lang="en-GB" dirty="0"/>
              <a:t>2.    Pupil reflex</a:t>
            </a:r>
          </a:p>
          <a:p>
            <a:pPr marL="139700" indent="0"/>
            <a:r>
              <a:rPr lang="en-GB" dirty="0"/>
              <a:t>	fitting ellipse to the pupil</a:t>
            </a:r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282C8F0-4601-4BCD-A2B7-0F38A147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38" y="423254"/>
            <a:ext cx="7704000" cy="572700"/>
          </a:xfrm>
        </p:spPr>
        <p:txBody>
          <a:bodyPr/>
          <a:lstStyle/>
          <a:p>
            <a:r>
              <a:rPr lang="en-GB" dirty="0"/>
              <a:t>CURRENT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111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13;p61">
            <a:extLst>
              <a:ext uri="{FF2B5EF4-FFF2-40B4-BE49-F238E27FC236}">
                <a16:creationId xmlns:a16="http://schemas.microsoft.com/office/drawing/2014/main" id="{09DA3777-317D-45F9-A74F-0F19931D5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5009" y="1900633"/>
            <a:ext cx="3256575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Thank </a:t>
            </a:r>
            <a:r>
              <a:rPr lang="en-IN" sz="3200" dirty="0"/>
              <a:t>you</a:t>
            </a:r>
            <a:r>
              <a:rPr lang="en" sz="3200" dirty="0"/>
              <a:t>!</a:t>
            </a:r>
            <a:br>
              <a:rPr lang="en" sz="3200" dirty="0"/>
            </a:br>
            <a:r>
              <a:rPr lang="en-IN" sz="3200" dirty="0"/>
              <a:t>J</a:t>
            </a:r>
            <a:r>
              <a:rPr lang="en" sz="3200" dirty="0"/>
              <a:t>ai sairam</a:t>
            </a:r>
            <a:endParaRPr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7AFE82-91F9-4F0E-BA04-C94F2E4564C8}"/>
              </a:ext>
            </a:extLst>
          </p:cNvPr>
          <p:cNvSpPr txBox="1"/>
          <p:nvPr/>
        </p:nvSpPr>
        <p:spPr>
          <a:xfrm>
            <a:off x="8562754" y="4636774"/>
            <a:ext cx="58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>
                    <a:lumMod val="50000"/>
                  </a:schemeClr>
                </a:solidFill>
              </a:rPr>
              <a:t>18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BE6DA-2E68-410B-849B-8B9F07F8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417" y="474746"/>
            <a:ext cx="2948085" cy="39104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llular Respiration and its Impact on Health Research Thesis Defense by Slidesgo">
  <a:themeElements>
    <a:clrScheme name="Simple Light">
      <a:dk1>
        <a:srgbClr val="0B3550"/>
      </a:dk1>
      <a:lt1>
        <a:srgbClr val="F6F6F6"/>
      </a:lt1>
      <a:dk2>
        <a:srgbClr val="0584A4"/>
      </a:dk2>
      <a:lt2>
        <a:srgbClr val="74CEC4"/>
      </a:lt2>
      <a:accent1>
        <a:srgbClr val="F255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1076</Words>
  <Application>Microsoft Office PowerPoint</Application>
  <PresentationFormat>On-screen Show (16:9)</PresentationFormat>
  <Paragraphs>206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Albert Sans</vt:lpstr>
      <vt:lpstr>DM Sans</vt:lpstr>
      <vt:lpstr>Wingdings</vt:lpstr>
      <vt:lpstr>Albert Sans Light</vt:lpstr>
      <vt:lpstr>Arial</vt:lpstr>
      <vt:lpstr>Poppins</vt:lpstr>
      <vt:lpstr>Nunito Light</vt:lpstr>
      <vt:lpstr>Cellular Respiration and its Impact on Health Research Thesis Defense by Slidesgo</vt:lpstr>
      <vt:lpstr>Generalizable Facial Expression Recognition</vt:lpstr>
      <vt:lpstr>Table of contents:</vt:lpstr>
      <vt:lpstr>Problem statement:</vt:lpstr>
      <vt:lpstr>PowerPoint Presentation</vt:lpstr>
      <vt:lpstr>PowerPoint Presentation</vt:lpstr>
      <vt:lpstr>PowerPoint Presentation</vt:lpstr>
      <vt:lpstr>PowerPoint Presentation</vt:lpstr>
      <vt:lpstr>Implementation :</vt:lpstr>
      <vt:lpstr>PowerPoint Presentation</vt:lpstr>
      <vt:lpstr>PowerPoint Presentation</vt:lpstr>
      <vt:lpstr>PowerPoint Presentation</vt:lpstr>
      <vt:lpstr>Results:</vt:lpstr>
      <vt:lpstr>PowerPoint Presentation</vt:lpstr>
      <vt:lpstr>PowerPoint Presentation</vt:lpstr>
      <vt:lpstr>PowerPoint Presentation</vt:lpstr>
      <vt:lpstr>Acknowledgements:</vt:lpstr>
      <vt:lpstr>References:</vt:lpstr>
      <vt:lpstr>CURRENT WORK</vt:lpstr>
      <vt:lpstr>Thank you! Jai sairam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Generalizable   Facial Expression Recognition</dc:title>
  <dc:creator>dmacs-24040208002</dc:creator>
  <cp:lastModifiedBy>admin</cp:lastModifiedBy>
  <cp:revision>193</cp:revision>
  <dcterms:modified xsi:type="dcterms:W3CDTF">2025-05-06T04:02:15Z</dcterms:modified>
</cp:coreProperties>
</file>